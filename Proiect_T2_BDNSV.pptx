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Wingdings 3" pitchFamily="2" charset="2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FFF"/>
    <a:srgbClr val="215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34"/>
  </p:normalViewPr>
  <p:slideViewPr>
    <p:cSldViewPr snapToGrid="0">
      <p:cViewPr varScale="1">
        <p:scale>
          <a:sx n="147" d="100"/>
          <a:sy n="147" d="100"/>
        </p:scale>
        <p:origin x="224" y="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2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420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6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467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795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81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153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996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884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5009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31138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313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1129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701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8240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7051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4761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195F-D267-2D43-B3D8-1A35FBD697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T2 – Relational vs. NoSQL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AB378-2B55-6740-B1A2-18FAFF1E4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</a:t>
            </a:r>
            <a:r>
              <a:rPr lang="en-US" dirty="0" err="1"/>
              <a:t>tudor</a:t>
            </a:r>
            <a:r>
              <a:rPr lang="en-US" dirty="0"/>
              <a:t> </a:t>
            </a:r>
            <a:r>
              <a:rPr lang="en-US" dirty="0" err="1"/>
              <a:t>florian</a:t>
            </a:r>
            <a:r>
              <a:rPr lang="en-US" dirty="0"/>
              <a:t> </a:t>
            </a:r>
            <a:r>
              <a:rPr lang="en-US" dirty="0" err="1"/>
              <a:t>apostol</a:t>
            </a:r>
            <a:r>
              <a:rPr lang="en-US" dirty="0"/>
              <a:t> (gr. 333)</a:t>
            </a:r>
          </a:p>
        </p:txBody>
      </p:sp>
    </p:spTree>
    <p:extLst>
      <p:ext uri="{BB962C8B-B14F-4D97-AF65-F5344CB8AC3E}">
        <p14:creationId xmlns:p14="http://schemas.microsoft.com/office/powerpoint/2010/main" val="185705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5EA1-B01F-904B-B5EE-77BF762F8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Objectives &amp; </a:t>
            </a:r>
            <a:r>
              <a:rPr lang="en-US" dirty="0">
                <a:solidFill>
                  <a:srgbClr val="FDFFFF"/>
                </a:solidFill>
              </a:rPr>
              <a:t>s</a:t>
            </a:r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ystem architecture</a:t>
            </a:r>
            <a:endParaRPr lang="en-US" dirty="0">
              <a:solidFill>
                <a:srgbClr val="FD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73A07-29CD-8643-BA1C-A5794C15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Goals:</a:t>
            </a:r>
            <a:endParaRPr lang="en-US" dirty="0"/>
          </a:p>
          <a:p>
            <a:pPr lvl="1">
              <a:buFont typeface="+mj-lt"/>
              <a:buAutoNum type="arabicPeriod"/>
            </a:pPr>
            <a:r>
              <a:rPr lang="en-US" dirty="0"/>
              <a:t>Compare </a:t>
            </a:r>
            <a:r>
              <a:rPr lang="en-US" b="1" dirty="0"/>
              <a:t>Data Modeling</a:t>
            </a:r>
            <a:r>
              <a:rPr lang="en-US" dirty="0"/>
              <a:t> (Normalized vs. Embedded).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Benchmark </a:t>
            </a:r>
            <a:r>
              <a:rPr lang="en-US" b="1" dirty="0"/>
              <a:t>Query Latency</a:t>
            </a:r>
            <a:r>
              <a:rPr lang="en-US" dirty="0"/>
              <a:t> (Simple vs. Analytical).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Demonstrate </a:t>
            </a:r>
            <a:r>
              <a:rPr lang="en-US" b="1" dirty="0"/>
              <a:t>CAP Theorem</a:t>
            </a:r>
            <a:r>
              <a:rPr lang="en-US" dirty="0"/>
              <a:t> trade-offs (Node Failure).</a:t>
            </a:r>
          </a:p>
          <a:p>
            <a:r>
              <a:rPr lang="en-US" b="1" dirty="0"/>
              <a:t>Tech Stack: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Infrastructure:</a:t>
            </a:r>
            <a:r>
              <a:rPr lang="en-US" dirty="0"/>
              <a:t> Docker Compose (Isolated Environment).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Databases:</a:t>
            </a:r>
            <a:r>
              <a:rPr lang="en-US" dirty="0"/>
              <a:t> PostgreSQL 16 (SQL) &amp; MongoDB 7.0 (NoSQL).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Logic:</a:t>
            </a:r>
            <a:r>
              <a:rPr lang="en-US" dirty="0"/>
              <a:t> Python 3.11 with Faker library for smart data generation.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02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52F7-40F3-1442-95DF-A68C02CF6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Data modeling strategies</a:t>
            </a:r>
            <a:endParaRPr lang="en-US" dirty="0">
              <a:solidFill>
                <a:srgbClr val="FD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A14D-1A77-C345-951E-A0C30ADDD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PostgreSQL:</a:t>
            </a:r>
            <a:r>
              <a:rPr lang="en-US" dirty="0"/>
              <a:t> Uses </a:t>
            </a:r>
            <a:r>
              <a:rPr lang="en-US" b="1" dirty="0"/>
              <a:t>Normalization</a:t>
            </a:r>
            <a:r>
              <a:rPr lang="en-US" dirty="0"/>
              <a:t> (3 Tables: Users, Products, Orders) linked by Foreign Keys.</a:t>
            </a:r>
          </a:p>
          <a:p>
            <a:r>
              <a:rPr lang="en-US" b="1" dirty="0"/>
              <a:t>MongoDB:</a:t>
            </a:r>
            <a:r>
              <a:rPr lang="en-US" dirty="0"/>
              <a:t> Uses </a:t>
            </a:r>
            <a:r>
              <a:rPr lang="en-US" b="1" dirty="0"/>
              <a:t>Embedding</a:t>
            </a:r>
            <a:r>
              <a:rPr lang="en-US" dirty="0"/>
              <a:t> (Denormalization). Product details are nested inside the orders document for faster read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40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D8AF482-E1B8-994B-8F54-D2FAF39E0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34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3831-EAB1-624C-BEF3-A913AC923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Performance benchmark </a:t>
            </a:r>
            <a:r>
              <a:rPr lang="en-US" dirty="0">
                <a:solidFill>
                  <a:srgbClr val="FDFFFF"/>
                </a:solidFill>
              </a:rPr>
              <a:t>r</a:t>
            </a:r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esults</a:t>
            </a:r>
            <a:endParaRPr lang="en-US" dirty="0">
              <a:solidFill>
                <a:srgbClr val="FD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2FF60-BE62-5D46-9FFB-DF71EC7EA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Dataset:</a:t>
            </a:r>
            <a:r>
              <a:rPr lang="en-US" dirty="0"/>
              <a:t> 100 Users, 500 Products, ~2000 Orders (Identical in both DBs).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Simple Query (Find ID):</a:t>
            </a:r>
            <a:r>
              <a:rPr lang="en-US" dirty="0"/>
              <a:t> Both systems are instant (~0.15ms).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Aggregate Query (Analytics):</a:t>
            </a:r>
            <a:r>
              <a:rPr lang="en-US" dirty="0"/>
              <a:t> MongoDB is faster due to data locality (no JOINs required).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80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C86-79CD-6C44-8A57-BF33CBBA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Performance benchmark results</a:t>
            </a:r>
            <a:endParaRPr lang="en-US" dirty="0">
              <a:solidFill>
                <a:srgbClr val="FD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9FF795-A25E-1D48-9324-2510880AF6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4648" y="1567660"/>
            <a:ext cx="8062703" cy="4837622"/>
          </a:xfrm>
        </p:spPr>
      </p:pic>
    </p:spTree>
    <p:extLst>
      <p:ext uri="{BB962C8B-B14F-4D97-AF65-F5344CB8AC3E}">
        <p14:creationId xmlns:p14="http://schemas.microsoft.com/office/powerpoint/2010/main" val="443985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AA2A-BCD6-014F-A4F9-2D7EAABB5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Reliability &amp; Chaos Testing</a:t>
            </a:r>
            <a:endParaRPr lang="en-US" dirty="0">
              <a:solidFill>
                <a:srgbClr val="FD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F1E1-B195-EC42-92BD-417324C09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Scenario:</a:t>
            </a:r>
            <a:r>
              <a:rPr lang="en-US" dirty="0"/>
              <a:t> Manual Node Failure (docker stop </a:t>
            </a:r>
            <a:r>
              <a:rPr lang="en-US" dirty="0" err="1"/>
              <a:t>bdnv_mongo</a:t>
            </a:r>
            <a:r>
              <a:rPr lang="en-US" dirty="0"/>
              <a:t>).</a:t>
            </a:r>
          </a:p>
          <a:p>
            <a:r>
              <a:rPr lang="en-US" b="1" dirty="0"/>
              <a:t>Observation: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Downtime:</a:t>
            </a:r>
            <a:r>
              <a:rPr lang="en-US" dirty="0"/>
              <a:t> Script detected connection loss immediately (caught Exception).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Recovery:</a:t>
            </a:r>
            <a:r>
              <a:rPr lang="en-US" dirty="0"/>
              <a:t> Script automatically resumed data processing once the container </a:t>
            </a:r>
            <a:r>
              <a:rPr lang="en-US"/>
              <a:t>was restored.</a:t>
            </a:r>
            <a:endParaRPr lang="en-US" dirty="0"/>
          </a:p>
          <a:p>
            <a:r>
              <a:rPr lang="en-US" b="1" dirty="0"/>
              <a:t>Conclusion:</a:t>
            </a:r>
            <a:r>
              <a:rPr lang="en-US" dirty="0"/>
              <a:t> Validated the application's error handling and reconnection logic.</a:t>
            </a:r>
          </a:p>
        </p:txBody>
      </p:sp>
    </p:spTree>
    <p:extLst>
      <p:ext uri="{BB962C8B-B14F-4D97-AF65-F5344CB8AC3E}">
        <p14:creationId xmlns:p14="http://schemas.microsoft.com/office/powerpoint/2010/main" val="1329424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F3893-2618-E145-9C0F-5CEA1CF8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FDFFFF"/>
                </a:solidFill>
                <a:effectLst/>
              </a:rPr>
              <a:t>Conclusions &amp; trade-offs</a:t>
            </a:r>
            <a:endParaRPr lang="en-US" dirty="0">
              <a:solidFill>
                <a:srgbClr val="FD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2259-8D33-8E4E-A014-8F44A9815B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PostgreSQL:</a:t>
            </a:r>
            <a:r>
              <a:rPr lang="en-US" dirty="0"/>
              <a:t> Best for </a:t>
            </a:r>
            <a:r>
              <a:rPr lang="en-US" b="1" dirty="0"/>
              <a:t>Data Integrity</a:t>
            </a:r>
            <a:r>
              <a:rPr lang="en-US" dirty="0"/>
              <a:t> and complex relationships (ACID).</a:t>
            </a:r>
          </a:p>
          <a:p>
            <a:r>
              <a:rPr lang="en-US" b="1" dirty="0"/>
              <a:t>MongoDB:</a:t>
            </a:r>
            <a:r>
              <a:rPr lang="en-US" dirty="0"/>
              <a:t> Best for </a:t>
            </a:r>
            <a:r>
              <a:rPr lang="en-US" b="1" dirty="0"/>
              <a:t>Flexibility</a:t>
            </a:r>
            <a:r>
              <a:rPr lang="en-US" dirty="0"/>
              <a:t> and high-speed </a:t>
            </a:r>
            <a:r>
              <a:rPr lang="en-US" b="1" dirty="0"/>
              <a:t>Read Analytics</a:t>
            </a:r>
            <a:r>
              <a:rPr lang="en-US" dirty="0"/>
              <a:t>.</a:t>
            </a:r>
          </a:p>
          <a:p>
            <a:r>
              <a:rPr lang="en-US" b="1" dirty="0"/>
              <a:t>Final Verdict:</a:t>
            </a:r>
            <a:r>
              <a:rPr lang="en-US" dirty="0"/>
              <a:t> Architecture choice depends on the workload (Transactional vs. Analytical).</a:t>
            </a:r>
          </a:p>
          <a:p>
            <a:r>
              <a:rPr lang="en-US" b="1" dirty="0"/>
              <a:t>References:</a:t>
            </a:r>
            <a:r>
              <a:rPr lang="en-US" dirty="0"/>
              <a:t> PostgreSQL Docs, MongoDB Manual, Brewer’s CAP Theorem, Google Gemini.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0208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{CE391C93-C26A-F447-8DDE-C3E96F84EB96}tf10001062</Template>
  <TotalTime>0</TotalTime>
  <Words>289</Words>
  <Application>Microsoft Macintosh PowerPoint</Application>
  <PresentationFormat>Widescreen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T2 – Relational vs. NoSQL</vt:lpstr>
      <vt:lpstr>Objectives &amp; system architecture</vt:lpstr>
      <vt:lpstr>Data modeling strategies</vt:lpstr>
      <vt:lpstr>PowerPoint Presentation</vt:lpstr>
      <vt:lpstr>Performance benchmark results</vt:lpstr>
      <vt:lpstr>Performance benchmark results</vt:lpstr>
      <vt:lpstr>Reliability &amp; Chaos Testing</vt:lpstr>
      <vt:lpstr>Conclusions &amp; trade-offs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T2 – Relational vs. NoSQL</dc:title>
  <cp:lastModifiedBy>TUDOR-FLORIAN APOSTOL</cp:lastModifiedBy>
  <cp:revision>1</cp:revision>
  <dcterms:modified xsi:type="dcterms:W3CDTF">2026-01-22T21:32:11Z</dcterms:modified>
</cp:coreProperties>
</file>